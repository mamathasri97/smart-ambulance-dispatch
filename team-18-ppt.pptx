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matha Chowdary" userId="acc557f1ec8af8c6" providerId="LiveId" clId="{D29AA39F-36B8-4917-B781-9852801649F4}"/>
    <pc:docChg chg="custSel delSld modSld">
      <pc:chgData name="Mamatha Chowdary" userId="acc557f1ec8af8c6" providerId="LiveId" clId="{D29AA39F-36B8-4917-B781-9852801649F4}" dt="2026-10-03T08:40:29.516" v="16" actId="20577"/>
      <pc:docMkLst>
        <pc:docMk/>
      </pc:docMkLst>
      <pc:sldChg chg="modSp mod">
        <pc:chgData name="Mamatha Chowdary" userId="acc557f1ec8af8c6" providerId="LiveId" clId="{D29AA39F-36B8-4917-B781-9852801649F4}" dt="2026-10-03T08:40:29.516" v="16" actId="20577"/>
        <pc:sldMkLst>
          <pc:docMk/>
          <pc:sldMk cId="0" sldId="256"/>
        </pc:sldMkLst>
        <pc:spChg chg="mod">
          <ac:chgData name="Mamatha Chowdary" userId="acc557f1ec8af8c6" providerId="LiveId" clId="{D29AA39F-36B8-4917-B781-9852801649F4}" dt="2026-10-03T08:39:28.478" v="2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Mamatha Chowdary" userId="acc557f1ec8af8c6" providerId="LiveId" clId="{D29AA39F-36B8-4917-B781-9852801649F4}" dt="2026-10-03T08:39:33.974" v="3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Mamatha Chowdary" userId="acc557f1ec8af8c6" providerId="LiveId" clId="{D29AA39F-36B8-4917-B781-9852801649F4}" dt="2026-10-03T08:39:39.816" v="4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Mamatha Chowdary" userId="acc557f1ec8af8c6" providerId="LiveId" clId="{D29AA39F-36B8-4917-B781-9852801649F4}" dt="2026-10-03T08:39:45.848" v="5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Mamatha Chowdary" userId="acc557f1ec8af8c6" providerId="LiveId" clId="{D29AA39F-36B8-4917-B781-9852801649F4}" dt="2026-10-03T08:40:01.257" v="9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Mamatha Chowdary" userId="acc557f1ec8af8c6" providerId="LiveId" clId="{D29AA39F-36B8-4917-B781-9852801649F4}" dt="2026-10-03T08:39:53.669" v="7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Mamatha Chowdary" userId="acc557f1ec8af8c6" providerId="LiveId" clId="{D29AA39F-36B8-4917-B781-9852801649F4}" dt="2026-10-03T08:40:12.336" v="12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Mamatha Chowdary" userId="acc557f1ec8af8c6" providerId="LiveId" clId="{D29AA39F-36B8-4917-B781-9852801649F4}" dt="2026-10-03T08:40:07.793" v="10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Mamatha Chowdary" userId="acc557f1ec8af8c6" providerId="LiveId" clId="{D29AA39F-36B8-4917-B781-9852801649F4}" dt="2026-10-03T08:40:18.005" v="14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Mamatha Chowdary" userId="acc557f1ec8af8c6" providerId="LiveId" clId="{D29AA39F-36B8-4917-B781-9852801649F4}" dt="2026-10-03T08:40:15.091" v="13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Mamatha Chowdary" userId="acc557f1ec8af8c6" providerId="LiveId" clId="{D29AA39F-36B8-4917-B781-9852801649F4}" dt="2026-10-03T08:40:29.516" v="16" actId="20577"/>
          <ac:spMkLst>
            <pc:docMk/>
            <pc:sldMk cId="0" sldId="256"/>
            <ac:spMk id="26" creationId="{00000000-0000-0000-0000-000000000000}"/>
          </ac:spMkLst>
        </pc:spChg>
      </pc:sldChg>
      <pc:sldChg chg="delSp del mod">
        <pc:chgData name="Mamatha Chowdary" userId="acc557f1ec8af8c6" providerId="LiveId" clId="{D29AA39F-36B8-4917-B781-9852801649F4}" dt="2026-10-03T08:39:19.475" v="1" actId="2696"/>
        <pc:sldMkLst>
          <pc:docMk/>
          <pc:sldMk cId="4100968520" sldId="263"/>
        </pc:sldMkLst>
        <pc:spChg chg="del">
          <ac:chgData name="Mamatha Chowdary" userId="acc557f1ec8af8c6" providerId="LiveId" clId="{D29AA39F-36B8-4917-B781-9852801649F4}" dt="2026-10-03T08:39:16.870" v="0" actId="21"/>
          <ac:spMkLst>
            <pc:docMk/>
            <pc:sldMk cId="4100968520" sldId="263"/>
            <ac:spMk id="15" creationId="{23067644-A9EC-E451-7D49-FE9CBAD9B5B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92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28816" y="1715072"/>
            <a:ext cx="1097280" cy="822960"/>
          </a:xfrm>
          <a:prstGeom prst="line">
            <a:avLst/>
          </a:prstGeom>
          <a:noFill/>
          <a:ln w="19050">
            <a:solidFill>
              <a:srgbClr val="2E4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7626096" y="1582616"/>
            <a:ext cx="822960" cy="914400"/>
          </a:xfrm>
          <a:prstGeom prst="line">
            <a:avLst/>
          </a:prstGeom>
          <a:noFill/>
          <a:ln w="19050">
            <a:solidFill>
              <a:srgbClr val="2E4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7050025" y="2395728"/>
            <a:ext cx="548640" cy="1005840"/>
          </a:xfrm>
          <a:prstGeom prst="line">
            <a:avLst/>
          </a:prstGeom>
          <a:noFill/>
          <a:ln w="19050">
            <a:solidFill>
              <a:srgbClr val="2E4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36660" y="3388556"/>
            <a:ext cx="1097280" cy="365760"/>
          </a:xfrm>
          <a:prstGeom prst="line">
            <a:avLst/>
          </a:prstGeom>
          <a:noFill/>
          <a:ln w="19050">
            <a:solidFill>
              <a:srgbClr val="2E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36660" y="3410712"/>
            <a:ext cx="274320" cy="1371600"/>
          </a:xfrm>
          <a:prstGeom prst="line">
            <a:avLst/>
          </a:prstGeom>
          <a:noFill/>
          <a:ln w="19050">
            <a:solidFill>
              <a:srgbClr val="2E4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296912" y="3701913"/>
            <a:ext cx="822960" cy="1005840"/>
          </a:xfrm>
          <a:prstGeom prst="line">
            <a:avLst/>
          </a:prstGeom>
          <a:noFill/>
          <a:ln w="19050">
            <a:solidFill>
              <a:srgbClr val="2E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09121" y="1699422"/>
            <a:ext cx="548640" cy="1828800"/>
          </a:xfrm>
          <a:prstGeom prst="line">
            <a:avLst/>
          </a:prstGeom>
          <a:noFill/>
          <a:ln w="19050">
            <a:solidFill>
              <a:srgbClr val="2E4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9393" y="1654350"/>
            <a:ext cx="219456" cy="21945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0" name="Shape 8"/>
          <p:cNvSpPr/>
          <p:nvPr/>
        </p:nvSpPr>
        <p:spPr>
          <a:xfrm>
            <a:off x="7488936" y="2365000"/>
            <a:ext cx="219456" cy="219456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1" name="Shape 9"/>
          <p:cNvSpPr/>
          <p:nvPr/>
        </p:nvSpPr>
        <p:spPr>
          <a:xfrm>
            <a:off x="8339328" y="1544622"/>
            <a:ext cx="219456" cy="219456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6926932" y="3308766"/>
            <a:ext cx="219456" cy="219456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3" name="Shape 11"/>
          <p:cNvSpPr/>
          <p:nvPr/>
        </p:nvSpPr>
        <p:spPr>
          <a:xfrm>
            <a:off x="8010144" y="3593592"/>
            <a:ext cx="219456" cy="219456"/>
          </a:xfrm>
          <a:prstGeom prst="ellipse">
            <a:avLst/>
          </a:prstGeom>
          <a:solidFill>
            <a:srgbClr val="2E4A6B"/>
          </a:solidFill>
          <a:ln/>
        </p:spPr>
      </p:sp>
      <p:sp>
        <p:nvSpPr>
          <p:cNvPr id="14" name="Shape 12"/>
          <p:cNvSpPr/>
          <p:nvPr/>
        </p:nvSpPr>
        <p:spPr>
          <a:xfrm>
            <a:off x="7187184" y="4553712"/>
            <a:ext cx="219456" cy="21945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5660" y="1109985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29  ·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3809" y="1297614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Ambulance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System</a:t>
            </a:r>
            <a:endParaRPr lang="en-US" sz="4200" dirty="0"/>
          </a:p>
        </p:txBody>
      </p:sp>
      <p:sp>
        <p:nvSpPr>
          <p:cNvPr id="18" name="Shape 16"/>
          <p:cNvSpPr/>
          <p:nvPr/>
        </p:nvSpPr>
        <p:spPr>
          <a:xfrm>
            <a:off x="640080" y="2629955"/>
            <a:ext cx="1097280" cy="4572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7572" y="276065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glass-box emergency dispatch engine that combines live traffic routing and multi-criteria triage to match critical patients with the optimal ambulance.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2694" y="3447639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 txBox="1"/>
          <p:nvPr/>
        </p:nvSpPr>
        <p:spPr>
          <a:xfrm>
            <a:off x="603504" y="3430600"/>
            <a:ext cx="1321660" cy="30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57400" y="3439551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 txBox="1"/>
          <p:nvPr/>
        </p:nvSpPr>
        <p:spPr>
          <a:xfrm>
            <a:off x="2057400" y="3439551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97932" y="3439551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B998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64169" y="3447639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17344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Intelligent Transportation &amp; EMS Optimization</a:t>
            </a:r>
          </a:p>
          <a:p>
            <a:pPr marL="0" indent="0">
              <a:buNone/>
            </a:pPr>
            <a:endParaRPr lang="en-US" sz="1050" dirty="0">
              <a:solidFill>
                <a:srgbClr val="9FB3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2">
                    <a:lumMod val="75000"/>
                  </a:schemeClr>
                </a:solidFill>
              </a:rPr>
              <a:t>1.AMBATI NAGA MAMATHA SRI [ 25MVCSMR0278 ]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2">
                    <a:lumMod val="75000"/>
                  </a:schemeClr>
                </a:solidFill>
              </a:rPr>
              <a:t>2.DASARI SRI NITYA [ 25MVCSMR0300 ]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2">
                    <a:lumMod val="75000"/>
                  </a:schemeClr>
                </a:solidFill>
              </a:rPr>
              <a:t>3.DODLA ASHWINI [ 25MVCSMR0302 ]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2">
                    <a:lumMod val="75000"/>
                  </a:schemeClr>
                </a:solidFill>
              </a:rPr>
              <a:t>4.GUJJETI BHAVYA [ 25MVCSMR0309 ] 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20A23C9-D517-1B93-708B-93ED47C5A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2"/>
            <a:ext cx="9144000" cy="11372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86868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distance-only dispatch fails when seconds count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0972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MINUTE COUNTS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1097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cardiac arrest or severe trauma, each minute of delay lowers survival. Traditional systems rely on straight-line proximity or static routing, which breaks down in urban congestion.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40280"/>
            <a:ext cx="64008" cy="233172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404872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Surge Flooding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3375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Non-critical calls clog the dispatch queue at peak hours and push urgent cases down the line.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224028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2240280"/>
            <a:ext cx="64008" cy="233172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0" y="2404872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7472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Distance Fallacy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3375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closest ambulance may be stuck in traffic while a farther unit has a clear highway route.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0" y="224028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2240280"/>
            <a:ext cx="64008" cy="233172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24" name="Shape 22"/>
          <p:cNvSpPr/>
          <p:nvPr/>
        </p:nvSpPr>
        <p:spPr>
          <a:xfrm>
            <a:off x="6263640" y="2404872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Mismatch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3375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Life Support (BLS) unit is sent to a patient who needs ALS/ICU equipment.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86868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“glass-box” engine: every decision is visible and explainable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solidFill>
            <a:srgbClr val="E6EA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GPS  </a:t>
            </a: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route, hides why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64008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0972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GLASS-BOX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every state change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65960"/>
            <a:ext cx="64008" cy="26060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130552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Time-Decay Min-Heap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06324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calls jump to the front instantly; a wait penalty stops low-severity requests from starving.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46120" y="19659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965960"/>
            <a:ext cx="64008" cy="26060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2130552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7472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Traffic-Weighted Graph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06324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directed road graph whose edge weights scale with live congestion, from 1.0× to 2.5×.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19659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965960"/>
            <a:ext cx="64008" cy="26060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2130552"/>
            <a:ext cx="457200" cy="4572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Greedy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306324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travel time against equipment compatibility in one transparent composite cost.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86868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Triage → Routing → Allocation → Output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1600200"/>
            <a:ext cx="6949440" cy="0"/>
          </a:xfrm>
          <a:prstGeom prst="line">
            <a:avLst/>
          </a:prstGeom>
          <a:noFill/>
          <a:ln w="25400">
            <a:solidFill>
              <a:srgbClr val="C3CDD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22960" y="1280160"/>
            <a:ext cx="640080" cy="640080"/>
          </a:xfrm>
          <a:prstGeom prst="ellipse">
            <a:avLst/>
          </a:prstGeom>
          <a:solidFill>
            <a:srgbClr val="0B1F3A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1554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" y="2487168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call: patient node, severity 1–10, required equipment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42032" y="1280160"/>
            <a:ext cx="640080" cy="640080"/>
          </a:xfrm>
          <a:prstGeom prst="ellipse">
            <a:avLst/>
          </a:prstGeom>
          <a:solidFill>
            <a:srgbClr val="D7263D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42032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084832" y="2103120"/>
            <a:ext cx="1554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76272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2487168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key = (10 − Severity) − Wait Penalty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61104" y="1280160"/>
            <a:ext cx="640080" cy="640080"/>
          </a:xfrm>
          <a:prstGeom prst="ellipse">
            <a:avLst/>
          </a:prstGeom>
          <a:solidFill>
            <a:srgbClr val="1B998B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61104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03904" y="2103120"/>
            <a:ext cx="1554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95344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913632" y="2487168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finds traffic-weighted time from every free ambulance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0176" y="1280160"/>
            <a:ext cx="640080" cy="640080"/>
          </a:xfrm>
          <a:prstGeom prst="ellipse">
            <a:avLst/>
          </a:prstGeom>
          <a:solidFill>
            <a:srgbClr val="F4A261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0176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522976" y="2103120"/>
            <a:ext cx="1554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14416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632704" y="2487168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picks min(Travel Time + Equipment Penalty)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99248" y="1280160"/>
            <a:ext cx="640080" cy="640080"/>
          </a:xfrm>
          <a:prstGeom prst="ellipse">
            <a:avLst/>
          </a:prstGeom>
          <a:solidFill>
            <a:srgbClr val="0B1F3A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99248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242048" y="2103120"/>
            <a:ext cx="1554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33488" y="2176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51776" y="2487168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ID, node route, ETA, trade-off matrix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JOURNEY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patient location → see ranked ambulances and route map → one-click dispatch starts live tracing and status updates.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86868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Algorithms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algorithms, each with one clear job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5603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2560320" cy="54864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097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3807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8562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incoming calls by urgency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3134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4780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updates beat flat lists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2953512"/>
            <a:ext cx="1097280" cy="41148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962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764792" y="2953512"/>
            <a:ext cx="1097280" cy="41148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764792" y="2962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764792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1051560"/>
            <a:ext cx="25603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1051560"/>
            <a:ext cx="2560320" cy="5486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29000" y="1097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13807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18562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fastest route on the traffic-weighted map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23134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24780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result; weights are never negative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29000" y="2953512"/>
            <a:ext cx="1097280" cy="41148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29000" y="2962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342900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O((V+E) log V)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99432" y="2953512"/>
            <a:ext cx="1097280" cy="41148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99432" y="2962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599432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O(V+E)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0" y="1051560"/>
            <a:ext cx="25603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1051560"/>
            <a:ext cx="2560320" cy="5486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63640" y="1097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Selector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263640" y="13807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Choice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263640" y="1691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263640" y="18562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best ambulance for each call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263640" y="23134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263640" y="24780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scoring, no heavy global solver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63640" y="2953512"/>
            <a:ext cx="1097280" cy="41148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263640" y="2962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626364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O(A · Dijkstra)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434072" y="2953512"/>
            <a:ext cx="1097280" cy="41148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434072" y="2962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7434072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O(A)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3657600"/>
            <a:ext cx="25603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" y="3657600"/>
            <a:ext cx="91440" cy="100584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85800" y="37307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85800" y="3913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68580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view and decision inspector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91840" y="3657600"/>
            <a:ext cx="25603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91840" y="3657600"/>
            <a:ext cx="91440" cy="10058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3520440" y="37307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3520440" y="3913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352044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and dispatch service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126480" y="3657600"/>
            <a:ext cx="25603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26480" y="3657600"/>
            <a:ext cx="91440" cy="10058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355080" y="37307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6355080" y="3913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63" name="Text 61"/>
          <p:cNvSpPr txBox="1"/>
          <p:nvPr/>
        </p:nvSpPr>
        <p:spPr>
          <a:xfrm>
            <a:off x="635508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edges, traffic, fleet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86868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Impact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internals made visible to the dispatcher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3891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097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ROUTE VIEW  (sample graph, edge = minutes × traffic)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V="1">
            <a:off x="822960" y="1645920"/>
            <a:ext cx="1188720" cy="365760"/>
          </a:xfrm>
          <a:prstGeom prst="line">
            <a:avLst/>
          </a:prstGeom>
          <a:noFill/>
          <a:ln w="19050">
            <a:solidFill>
              <a:srgbClr val="C3CD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98448" y="1728216"/>
            <a:ext cx="237744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3CD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98448" y="17282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22960" y="2011680"/>
            <a:ext cx="1188720" cy="1097280"/>
          </a:xfrm>
          <a:prstGeom prst="line">
            <a:avLst/>
          </a:prstGeom>
          <a:noFill/>
          <a:ln w="19050">
            <a:solidFill>
              <a:srgbClr val="C3CD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98448" y="2459736"/>
            <a:ext cx="237744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3CD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98448" y="245973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 flipV="1">
            <a:off x="822960" y="3108960"/>
            <a:ext cx="1188720" cy="548640"/>
          </a:xfrm>
          <a:prstGeom prst="line">
            <a:avLst/>
          </a:prstGeom>
          <a:noFill/>
          <a:ln w="19050">
            <a:solidFill>
              <a:srgbClr val="C3CD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8448" y="3282696"/>
            <a:ext cx="237744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3CD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98448" y="328269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 flipV="1">
            <a:off x="2011680" y="2377440"/>
            <a:ext cx="1188720" cy="731520"/>
          </a:xfrm>
          <a:prstGeom prst="line">
            <a:avLst/>
          </a:prstGeom>
          <a:noFill/>
          <a:ln w="19050">
            <a:solidFill>
              <a:srgbClr val="C3CD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87168" y="2642616"/>
            <a:ext cx="237744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3CD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87168" y="26426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011680" y="1645920"/>
            <a:ext cx="1188720" cy="731520"/>
          </a:xfrm>
          <a:prstGeom prst="line">
            <a:avLst/>
          </a:prstGeom>
          <a:noFill/>
          <a:ln w="38100">
            <a:solidFill>
              <a:srgbClr val="D72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7168" y="1911096"/>
            <a:ext cx="237744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26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487168" y="191109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 flipV="1">
            <a:off x="3200400" y="2011680"/>
            <a:ext cx="1097280" cy="365760"/>
          </a:xfrm>
          <a:prstGeom prst="line">
            <a:avLst/>
          </a:prstGeom>
          <a:noFill/>
          <a:ln w="38100">
            <a:solidFill>
              <a:srgbClr val="D72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30168" y="2093976"/>
            <a:ext cx="237744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26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30168" y="209397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1645920"/>
            <a:ext cx="2286000" cy="365760"/>
          </a:xfrm>
          <a:prstGeom prst="line">
            <a:avLst/>
          </a:prstGeom>
          <a:noFill/>
          <a:ln w="19050">
            <a:solidFill>
              <a:srgbClr val="C3CD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5808" y="1728216"/>
            <a:ext cx="237744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3CD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35808" y="17282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7512" y="1856232"/>
            <a:ext cx="310896" cy="310896"/>
          </a:xfrm>
          <a:prstGeom prst="ellipse">
            <a:avLst/>
          </a:prstGeom>
          <a:solidFill>
            <a:srgbClr val="1B99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21854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7512" y="3502152"/>
            <a:ext cx="310896" cy="310896"/>
          </a:xfrm>
          <a:prstGeom prst="ellipse">
            <a:avLst/>
          </a:prstGeom>
          <a:solidFill>
            <a:srgbClr val="5A6B7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38313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B (BLS)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92808" y="1527048"/>
            <a:ext cx="237744" cy="237744"/>
          </a:xfrm>
          <a:prstGeom prst="ellipse">
            <a:avLst/>
          </a:prstGeom>
          <a:solidFill>
            <a:srgbClr val="0B1F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645920" y="1783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92808" y="2990088"/>
            <a:ext cx="237744" cy="237744"/>
          </a:xfrm>
          <a:prstGeom prst="ellipse">
            <a:avLst/>
          </a:prstGeom>
          <a:solidFill>
            <a:srgbClr val="0B1F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45920" y="3246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81528" y="2258568"/>
            <a:ext cx="237744" cy="237744"/>
          </a:xfrm>
          <a:prstGeom prst="ellipse">
            <a:avLst/>
          </a:prstGeom>
          <a:solidFill>
            <a:srgbClr val="0B1F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34640" y="2514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0" y="1828800"/>
            <a:ext cx="365760" cy="365760"/>
          </a:xfrm>
          <a:prstGeom prst="ellipse">
            <a:avLst/>
          </a:prstGeom>
          <a:solidFill>
            <a:srgbClr val="D726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931920" y="22128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02920" y="4389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path = least-cost route chosen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983480" y="1051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MATRIX  (illustrative sample)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325880"/>
          <a:ext cx="3749040" cy="124358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Travel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Equip. penalty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</a:rPr>
                        <a:t>Amb A (ALS)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9 min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</a:rPr>
                        <a:t>9  ✔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Amb B (BLS)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 min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Amb C (ALS)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12 min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" name="Shape 42"/>
          <p:cNvSpPr/>
          <p:nvPr/>
        </p:nvSpPr>
        <p:spPr>
          <a:xfrm>
            <a:off x="4983480" y="2743200"/>
            <a:ext cx="3749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4983480" y="2743200"/>
            <a:ext cx="64008" cy="192024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521208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5212080" y="324612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Inspector shows calls re-ordering live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 than FIFO and distance-only dispatch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critical capability mismatches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for responders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86868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working prototype to city-scale deployment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7315200" cy="0"/>
          </a:xfrm>
          <a:prstGeom prst="line">
            <a:avLst/>
          </a:prstGeom>
          <a:noFill/>
          <a:ln w="38100">
            <a:solidFill>
              <a:srgbClr val="C3CD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325880"/>
            <a:ext cx="457200" cy="457200"/>
          </a:xfrm>
          <a:prstGeom prst="ellipse">
            <a:avLst/>
          </a:prstGeom>
          <a:solidFill>
            <a:srgbClr val="1B998B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514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graph routing, dynamic triage queue, decision visualization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325880"/>
            <a:ext cx="457200" cy="457200"/>
          </a:xfrm>
          <a:prstGeom prst="ellipse">
            <a:avLst/>
          </a:prstGeom>
          <a:solidFill>
            <a:srgbClr val="F4A261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2514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/ GPS feeds and IoT traffic-light preemption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1325880"/>
            <a:ext cx="457200" cy="457200"/>
          </a:xfrm>
          <a:prstGeom prst="ellipse">
            <a:avLst/>
          </a:prstGeom>
          <a:solidFill>
            <a:srgbClr val="D7263D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traffic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2514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predict congestion from historical temporal patterns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0920" y="1325880"/>
            <a:ext cx="457200" cy="457200"/>
          </a:xfrm>
          <a:prstGeom prst="ellipse">
            <a:avLst/>
          </a:prstGeom>
          <a:solidFill>
            <a:srgbClr val="0B1F3A"/>
          </a:solidFill>
          <a:ln w="38100">
            <a:solidFill>
              <a:srgbClr val="F4F7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2514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graph indexing and modular Flask microservices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566160"/>
            <a:ext cx="91440" cy="109728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356616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multi-criteria optimization replaces black-box guesswork in emergency dispatch, saving lives when seconds count.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566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702</Words>
  <Application>Microsoft Office PowerPoint</Application>
  <PresentationFormat>On-screen Show (16:9)</PresentationFormat>
  <Paragraphs>168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Ambulance Dispatch System</dc:title>
  <dc:subject>PptxGenJS Presentation</dc:subject>
  <dc:creator>PptxGenJS</dc:creator>
  <cp:lastModifiedBy>Mamatha Chowdary</cp:lastModifiedBy>
  <cp:revision>3</cp:revision>
  <dcterms:created xsi:type="dcterms:W3CDTF">2026-10-03T08:06:54Z</dcterms:created>
  <dcterms:modified xsi:type="dcterms:W3CDTF">2026-10-03T08:40:31Z</dcterms:modified>
</cp:coreProperties>
</file>